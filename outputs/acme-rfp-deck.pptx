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837A"/>
          </a:solidFill>
          <a:ln w="12700">
            <a:solidFill>
              <a:srgbClr val="1383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138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BTS-SYNTHETIC  /  ENTERPRISE DATA PLATFORM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RESPONSE  /  EXECUTIVE BRIEF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Acme Corp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Replace Teradata. Power 600 Power BI seats and 40,000 IoT devices on a sovereign, multi-region lakehouse — at $702K per year, fixed.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5120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$3.58M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5760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total commitment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0" y="5120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389120" y="5760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list, fixed Y1–3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138160" y="5120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 wks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138160" y="5760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full production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Sarah Chen, VP Procurement  /  Marcus Webb, CDO  /  26 May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8755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38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ACME ACTUALLY NEEDS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constraints make this a real platform decision, not a vendor swap.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777240" cy="77724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487168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228600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Microsoft-first, not Microsoft-locked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691640" y="26974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primary, Power BI non-negotiable across 600 seats. But single-cloud lock-in is a strategic risk Acme refuses. The platform must work brilliantly with Microsoft and remain portable.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657600"/>
            <a:ext cx="777240" cy="77724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858768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365760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residency at table level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691640" y="40690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customer telemetry must remain in EU regions regardless of where the analyst sits. Region-level residency is not enough. Per-table enforcement, auditable in the catalog.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5029200"/>
            <a:ext cx="777240" cy="77724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5230368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502920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Teradata decommission, no Year-2 drag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691640" y="5440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batch sources and a full Teradata cutover by 2027, absorbed without analyst disruption — and without a parallel-run that bleeds into Year 2 of the contract.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837A"/>
          </a:solidFill>
          <a:ln w="12700">
            <a:solidFill>
              <a:srgbClr val="13837A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601200" y="228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0" kern="0" dirty="0">
                <a:solidFill>
                  <a:srgbClr val="138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BTS-SYNTHETIC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7D2C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Corp — RFP Response  |  Confidential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755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38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BTS-SYNTHETIC WINS THIS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differentiators that map directly to Acme's must-haves.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611880" cy="3017520"/>
          </a:xfrm>
          <a:prstGeom prst="rect">
            <a:avLst/>
          </a:prstGeom>
          <a:solidFill>
            <a:srgbClr val="F4F1EC"/>
          </a:solidFill>
          <a:ln w="6350">
            <a:solidFill>
              <a:srgbClr val="D7D2C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20240"/>
            <a:ext cx="3611880" cy="73152"/>
          </a:xfrm>
          <a:prstGeom prst="rect">
            <a:avLst/>
          </a:prstGeom>
          <a:solidFill>
            <a:srgbClr val="13837A"/>
          </a:solidFill>
          <a:ln w="12700">
            <a:solidFill>
              <a:srgbClr val="1383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94560"/>
            <a:ext cx="640080" cy="64008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35915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971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at scale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3832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600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914400" y="41148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seats, certified DirectQuery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14400" y="4434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mature Power BI integration in the market. No third-party bridge, no extract-refresh tax.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434840" y="1920240"/>
            <a:ext cx="3611880" cy="3017520"/>
          </a:xfrm>
          <a:prstGeom prst="rect">
            <a:avLst/>
          </a:prstGeom>
          <a:solidFill>
            <a:srgbClr val="F4F1EC"/>
          </a:solidFill>
          <a:ln w="6350">
            <a:solidFill>
              <a:srgbClr val="D7D2C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34840" y="1920240"/>
            <a:ext cx="3611880" cy="73152"/>
          </a:xfrm>
          <a:prstGeom prst="rect">
            <a:avLst/>
          </a:prstGeom>
          <a:solidFill>
            <a:srgbClr val="13837A"/>
          </a:solidFill>
          <a:ln w="12700">
            <a:solidFill>
              <a:srgbClr val="13837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09160" y="2194560"/>
            <a:ext cx="640080" cy="64008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2359152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09160" y="2971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residency at table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709160" y="33832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Per-table</a:t>
            </a:r>
            <a:endParaRPr lang="en-US" sz="4000" dirty="0"/>
          </a:p>
        </p:txBody>
      </p:sp>
      <p:sp>
        <p:nvSpPr>
          <p:cNvPr id="18" name="Text 14"/>
          <p:cNvSpPr/>
          <p:nvPr/>
        </p:nvSpPr>
        <p:spPr>
          <a:xfrm>
            <a:off x="4709160" y="41148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GDPR-compliant residency enforcement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709160" y="4434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Munich and Austin query the same logical dashboard. EU records stay EU. Competitors force region-level.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229600" y="1920240"/>
            <a:ext cx="3611880" cy="3017520"/>
          </a:xfrm>
          <a:prstGeom prst="rect">
            <a:avLst/>
          </a:prstGeom>
          <a:solidFill>
            <a:srgbClr val="F4F1EC"/>
          </a:solidFill>
          <a:ln w="6350">
            <a:solidFill>
              <a:srgbClr val="D7D2C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229600" y="1920240"/>
            <a:ext cx="3611880" cy="73152"/>
          </a:xfrm>
          <a:prstGeom prst="rect">
            <a:avLst/>
          </a:prstGeom>
          <a:solidFill>
            <a:srgbClr val="13837A"/>
          </a:solidFill>
          <a:ln w="12700">
            <a:solidFill>
              <a:srgbClr val="13837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503920" y="2194560"/>
            <a:ext cx="640080" cy="64008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2359152"/>
            <a:ext cx="310896" cy="31089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503920" y="2971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proven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8503920" y="33832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</a:t>
            </a:r>
            <a:endParaRPr lang="en-US" sz="4000" dirty="0"/>
          </a:p>
        </p:txBody>
      </p:sp>
      <p:sp>
        <p:nvSpPr>
          <p:cNvPr id="26" name="Text 21"/>
          <p:cNvSpPr/>
          <p:nvPr/>
        </p:nvSpPr>
        <p:spPr>
          <a:xfrm>
            <a:off x="8503920" y="41148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headroom over Acme's 80K/sec peak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8503920" y="4434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Production-validated at 250K events/sec on a single region. Already inside our envelope at day one.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40080" y="5120640"/>
            <a:ext cx="11338560" cy="11887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68680" y="5212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38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field: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868680" y="562356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Fabric: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Initech playbook — TCO beats "free with E5"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4572000" y="562356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Databricks: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Real-workload TCO at 280TB + streaming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8275320" y="562356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Snowflake: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+ multi-cloud they cannot match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837A"/>
          </a:solidFill>
          <a:ln w="12700">
            <a:solidFill>
              <a:srgbClr val="13837A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9601200" y="228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0" kern="0" dirty="0">
                <a:solidFill>
                  <a:srgbClr val="138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BTS-SYNTHETIC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7D2C8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Corp — RFP Response  |  Confidential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98755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38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PROPOSAL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5-year price you can plan against.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03520" cy="4114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38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$702K</a:t>
            </a:r>
            <a:endParaRPr lang="en-US" sz="84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annum, net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4160520"/>
            <a:ext cx="4389120" cy="0"/>
          </a:xfrm>
          <a:prstGeom prst="line">
            <a:avLst/>
          </a:prstGeom>
          <a:noFill/>
          <a:ln w="12700">
            <a:solidFill>
              <a:srgbClr val="1383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94560" y="4343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list ($900K)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709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+ 2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9456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term (fixed Y1–3, CPI-cap Y4–5)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5074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60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94560" y="5074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upfront billing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5440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$3.58M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94560" y="5440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5-year commitment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1965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38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CONCESSIONS ON OFFER</a:t>
            </a:r>
            <a:endParaRPr lang="en-US" sz="11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377440"/>
            <a:ext cx="228600" cy="2286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629400" y="233172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Prepay Years 1–2 at signing → extra 3 pts off (effective 25%)</a:t>
            </a:r>
            <a:endParaRPr lang="en-US" sz="12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788920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629400" y="274320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PoC fees credited 100% to Year 1</a:t>
            </a:r>
            <a:endParaRPr lang="en-US" sz="12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200400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629400" y="31546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volume buffer over 12TB/month growth assumption</a:t>
            </a:r>
            <a:endParaRPr lang="en-US" sz="12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611880"/>
            <a:ext cx="228600" cy="2286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629400" y="356616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Reference-customer agreement unlocks Strategic tier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30936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HOLD FIRM</a:t>
            </a:r>
            <a:endParaRPr lang="en-US" sz="11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4572000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629400" y="45262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discount: no — Strategic max is 28% (walk-away)</a:t>
            </a:r>
            <a:endParaRPr lang="en-US" sz="12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4937760"/>
            <a:ext cx="228600" cy="2286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629400" y="4892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90: no — Net 60 final, our cost-of-capital floor</a:t>
            </a:r>
            <a:endParaRPr lang="en-US" sz="12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5303520"/>
            <a:ext cx="228600" cy="22860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629400" y="525780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Perpetual MFN: no — point-in-time only, at signature</a:t>
            </a:r>
            <a:endParaRPr lang="en-US" sz="12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5669280"/>
            <a:ext cx="228600" cy="2286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629400" y="562356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 no-escalator: no — CPI-cap (max 5%) Y4–5</a:t>
            </a:r>
            <a:endParaRPr lang="en-US" sz="1200" dirty="0"/>
          </a:p>
        </p:txBody>
      </p:sp>
      <p:sp>
        <p:nvSpPr>
          <p:cNvPr id="35" name="Shape 2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837A"/>
          </a:solidFill>
          <a:ln w="12700">
            <a:solidFill>
              <a:srgbClr val="13837A"/>
            </a:solidFill>
            <a:prstDash val="solid"/>
          </a:ln>
        </p:spPr>
      </p:sp>
      <p:sp>
        <p:nvSpPr>
          <p:cNvPr id="36" name="Text 26"/>
          <p:cNvSpPr/>
          <p:nvPr/>
        </p:nvSpPr>
        <p:spPr>
          <a:xfrm>
            <a:off x="9601200" y="228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0" kern="0" dirty="0">
                <a:solidFill>
                  <a:srgbClr val="138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BTS-SYNTHETIC</a:t>
            </a:r>
            <a:endParaRPr lang="en-US" sz="1000" dirty="0"/>
          </a:p>
        </p:txBody>
      </p:sp>
      <p:sp>
        <p:nvSpPr>
          <p:cNvPr id="37" name="Shape 2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7D2C8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Corp — RFP Response  |  Confidential</a:t>
            </a:r>
            <a:endParaRPr lang="en-US" sz="900" dirty="0"/>
          </a:p>
        </p:txBody>
      </p:sp>
      <p:sp>
        <p:nvSpPr>
          <p:cNvPr id="39" name="Text 29"/>
          <p:cNvSpPr/>
          <p:nvPr/>
        </p:nvSpPr>
        <p:spPr>
          <a:xfrm>
            <a:off x="98755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38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MITIGATIONS, NEXT STEP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have not buried the risks. Here is the honest list.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777240" cy="41148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54480" y="192024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 SLA exposure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21945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Active-active multi-region architecture priced explicitly (+$100K/yr). Termination right only on ≥3 SLA misses in a rolling 12 months.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679192"/>
            <a:ext cx="777240" cy="4114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79192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2633472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Teradata migration complexity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290779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cutover Weeks 25–40 with parallel-run validation. Dedicated migration squad, proven Teradata connector library.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392424"/>
            <a:ext cx="777240" cy="411480"/>
          </a:xfrm>
          <a:prstGeom prst="rect">
            <a:avLst/>
          </a:prstGeom>
          <a:solidFill>
            <a:srgbClr val="13837A"/>
          </a:solidFill>
          <a:ln w="12700">
            <a:solidFill>
              <a:srgbClr val="1383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92424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54480" y="3346704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ingest at peak load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3621024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Production-validated at 250K events/sec — 3× Acme's stated peak. Load-test gate at end of Foundation phase.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105656"/>
            <a:ext cx="777240" cy="411480"/>
          </a:xfrm>
          <a:prstGeom prst="rect">
            <a:avLst/>
          </a:prstGeom>
          <a:solidFill>
            <a:srgbClr val="13837A"/>
          </a:solidFill>
          <a:ln w="12700">
            <a:solidFill>
              <a:srgbClr val="1383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105656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54480" y="4059936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Late-cycle Fabric "free with E5" reframe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4334256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requires any such pitch benchmarked against 3-year TCO at real workload, including stabilisation cost. Not list-vs-list.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120640"/>
            <a:ext cx="11338560" cy="11887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257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38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5532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Clarification call with Sarah Chen + Marcus Webb within 5 business days.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redlined master agreement exchanged by 15 June. Signature by 25 June — ahead of Acme's 30 June award date.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837A"/>
          </a:solidFill>
          <a:ln w="12700">
            <a:solidFill>
              <a:srgbClr val="1383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0" y="228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0" kern="0" dirty="0">
                <a:solidFill>
                  <a:srgbClr val="138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BTS-SYNTHETIC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7D2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Corp — RFP Response  |  Confidential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8755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Corp RFP Response — Executive Brief</dc:title>
  <dc:subject>PptxGenJS Presentation</dc:subject>
  <dc:creator>BTS-Synthetic Deal Desk</dc:creator>
  <cp:lastModifiedBy>BTS-Synthetic Deal Desk</cp:lastModifiedBy>
  <cp:revision>1</cp:revision>
  <dcterms:created xsi:type="dcterms:W3CDTF">2026-05-27T13:42:53Z</dcterms:created>
  <dcterms:modified xsi:type="dcterms:W3CDTF">2026-05-27T13:42:53Z</dcterms:modified>
</cp:coreProperties>
</file>