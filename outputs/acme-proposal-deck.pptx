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194560"/>
            <a:ext cx="1161288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 PARTNERS  |  BTS-SYNTHETIC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 Response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— Enterprise Data Platform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474720"/>
            <a:ext cx="10332720" cy="1371600"/>
          </a:xfrm>
          <a:prstGeom prst="rect">
            <a:avLst/>
          </a:prstGeom>
          <a:solidFill>
            <a:srgbClr val="1E2761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61188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Teradata. Modernise on Azure. </a:t>
            </a:r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breaking 600 Power BI users. Without locking into one cloud. </a:t>
            </a:r>
            <a:pPr indent="0" marL="0">
              <a:lnSpc>
                <a:spcPct val="120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~20% lower 5-year TCO than the most credible alternative.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 — VP Procurement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715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Webb — Chief Data Officer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May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5715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target: 30 June 2026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1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 PARTNERS  |  BTS-SYNTHETIC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3657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 •  Enterprise Data Platform Proposal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13716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WHAT ACME IS ACTUALLY BUYING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warehouse. The substrate for the next decade of industrial data.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365760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MICROSOFT-ALIGNED, AZURE-FIRST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Power BI users today. Native PBI integration is the non-negotiable. Anything that disrupts their workflow loses on day one.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0832" y="210312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2103120"/>
            <a:ext cx="365760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Shape 14"/>
          <p:cNvSpPr/>
          <p:nvPr/>
        </p:nvSpPr>
        <p:spPr>
          <a:xfrm>
            <a:off x="4645152" y="23774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85232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AT REAL SCALE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5152" y="310896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 devices. 80K events/sec peak. 280 TB base, 12 TB/month growth. Streaming is a first-class workload, not a side-car.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84464" y="210312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4464" y="2103120"/>
            <a:ext cx="365760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58784" y="23774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58784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98864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+ PORTABLE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58784" y="310896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customer data stays in EU. Multi-region (EU + US East). Lakehouse on open formats (Delta, Iceberg, Parquet). No lock-in.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943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every section of this proposal is calibrated to that outcome — IoT, BI, ML, and AI on a single open foundation.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Acme Corp evaluation use only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6476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1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 PARTNERS  |  BTS-SYNTHETIC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3657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 •  Enterprise Data Platform Proposal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13716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WHY BTS-SYNTHETIC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Engineered for this profile. Proven on this profile.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80160" y="190195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is our crown jewel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2331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DirectQuery adapter — our most mature BI integration, scale-tested beyond 600 seats. Zero disruption to Acme's analyst population on day one.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331927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at your volume — with headroom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3749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engine tested to 250K events/sec single-region. Acme's 80K peak runs at ~32% of single-region capacity. Open formats: Delta, Iceberg, Parquet, native.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473659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sovereignty, by design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80160" y="5166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 residency pinning. Multi-region active-active EU + US East. GDPR-aligned, DPA in place, SOC 2 II, ISO 27001. Not a workaround — an architecture.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23760" y="1920240"/>
            <a:ext cx="4480560" cy="4434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FIELD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2468880"/>
            <a:ext cx="54864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2468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0" y="276148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Azure-only lock-in. Real-time SLA story immature. We already beat them at Initech (same profile).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06640" y="3749040"/>
            <a:ext cx="54864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3749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404164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latency breaks 600-seat interactive BI. Compute pricing inflates at 12 TB/month growth.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06640" y="5029200"/>
            <a:ext cx="54864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5029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89520" y="532180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for IoT streaming. Iceberg support recent. SQL-first, not real-time-first.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Acme Corp evaluation use only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6476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1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 PARTNERS  |  BTS-SYNTHETIC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3657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 •  Enterprise Data Platform Proposal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13716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83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COMMERCIAL PROPOSAL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640K Year 1. 3-year committed term. ~$3.15M 5-year TCO.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657600" cy="2377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NET PRICE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$640K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off list. Includes 99.99% SLA + multi-region active-active.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920240"/>
            <a:ext cx="3657600" cy="2377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TCO ENVELOPE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24688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~$3.15M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4480560" y="37033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below projected Databricks / Snowflake at the same workload.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35661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24688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commit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years 4–5 CPI-capped at 3%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prepay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Net 60 (not Net 90)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22% open, 25% with reference + quarterly billing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CONCESSIONS WE ARE COUNTERING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937760"/>
            <a:ext cx="73152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983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ASKED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5166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discount floor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58155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Year 1; case built on 5-yr TCO, not headline 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37560" y="4937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4937760"/>
            <a:ext cx="73152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4983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ASKED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20440" y="5166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90 payment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20440" y="5623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20440" y="58155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60 annual prepay (Fortune 500 standard)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4937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4937760"/>
            <a:ext cx="73152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983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ASKED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5166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5-yr, no escalator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5623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58155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 yrs; CPI-capped 3% in yrs 4–5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098280" y="4937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98280" y="4937760"/>
            <a:ext cx="73152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0" name="Text 38"/>
          <p:cNvSpPr/>
          <p:nvPr/>
        </p:nvSpPr>
        <p:spPr>
          <a:xfrm>
            <a:off x="9281160" y="4983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ASKED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281160" y="5166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MFN clause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281160" y="5623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81160" y="58155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— narrow benchmark, sunset at year 3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Acme Corp evaluation use only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72800" y="66476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 PARTNERS  |  BTS-SYNTHETIC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3657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 •  Enterprise Data Platform Proposal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3716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49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RISKS, MITIGATIONS, NEXT STEP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direct about where this carries risk. Each item has a mitigation.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9144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latency floor (~250 ms – 1 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19659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26480" y="1965960"/>
            <a:ext cx="557784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9659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specifies throughput, not latency. 2-week discovery confirms profile; headroom to 250K events/sec already proven.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9144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803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Teradata decommission timeline alignment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28803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26480" y="2880360"/>
            <a:ext cx="557784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8803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migration: 8 weeks → first prod workload; 24 weeks → full streaming + 30+ connectors; 2026–27 → Teradata cutover in waves.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9144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7947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aggressive discounting (40%+ observed)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37947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126480" y="3794760"/>
            <a:ext cx="557784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7947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TCO model loaded for 80K eps sustained — gap closes and reverses inside 24 months on compute + egress.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9144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7091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§4 contract clauses block signature as drafted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0" y="47091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26480" y="4709160"/>
            <a:ext cx="557784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47091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counter-position + fallback defined. Joint legal session week of 1 June closes them ahead of award.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806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commercial + legal working session — week of 1 June 2026 — 90 minutes. Close the five §4 contract positions and lock pricing structure ahead of 30 June award.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647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Acme Corp evaluation use only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6476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2026-05-27T14:08:14Z</dcterms:created>
  <dcterms:modified xsi:type="dcterms:W3CDTF">2026-05-27T14:08:14Z</dcterms:modified>
</cp:coreProperties>
</file>